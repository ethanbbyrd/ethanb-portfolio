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128FA71-3A18-48C0-980F-4B68F7F6304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6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67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7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4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1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1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1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0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932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54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012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368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2173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213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762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3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7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EAD5F22E-F60D-799C-6FE6-93609D9F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82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71714-3572-5CDA-0EB8-207C02F1F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 fontScale="90000"/>
          </a:bodyPr>
          <a:lstStyle/>
          <a:p>
            <a:pPr algn="l"/>
            <a:r>
              <a:rPr lang="en-US" sz="6000">
                <a:solidFill>
                  <a:srgbClr val="FFFFFF"/>
                </a:solidFill>
              </a:rPr>
              <a:t>Security Operations Board Breifing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A7D94-2864-70EF-6385-101D5C9DD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</a:rPr>
              <a:t>Ethan Byrd</a:t>
            </a:r>
            <a:br>
              <a:rPr lang="en-US" sz="1700">
                <a:solidFill>
                  <a:srgbClr val="FFFFFF"/>
                </a:solidFill>
              </a:rPr>
            </a:br>
            <a:r>
              <a:rPr lang="en-US" sz="1700">
                <a:solidFill>
                  <a:srgbClr val="FFFFFF"/>
                </a:solidFill>
              </a:rPr>
              <a:t>CYBR 7930</a:t>
            </a:r>
          </a:p>
        </p:txBody>
      </p:sp>
    </p:spTree>
    <p:extLst>
      <p:ext uri="{BB962C8B-B14F-4D97-AF65-F5344CB8AC3E}">
        <p14:creationId xmlns:p14="http://schemas.microsoft.com/office/powerpoint/2010/main" val="1817318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D11F-FACB-00A9-2B2D-02831925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716145-7050-FD62-815D-97DAEC969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883" y="2223045"/>
            <a:ext cx="11298862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/>
              <a:t>As DHHI prepares for a major organizational expansion, our security posture must evolve </a:t>
            </a:r>
            <a:br>
              <a:rPr lang="en-US" sz="2400" dirty="0"/>
            </a:br>
            <a:r>
              <a:rPr lang="en-US" sz="2400" dirty="0"/>
              <a:t>to protect our assets, our clients, and our reputation.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Message for the Board:</a:t>
            </a:r>
            <a:endParaRPr lang="en-US" sz="2400" dirty="0"/>
          </a:p>
          <a:p>
            <a:r>
              <a:rPr lang="en-US" sz="2400" dirty="0"/>
              <a:t>Our current security structure will not scale with upcoming growth</a:t>
            </a:r>
          </a:p>
          <a:p>
            <a:r>
              <a:rPr lang="en-US" sz="2400" dirty="0"/>
              <a:t>A modernized, proactive program is essential to operational continuity</a:t>
            </a:r>
          </a:p>
          <a:p>
            <a:r>
              <a:rPr lang="en-US" sz="2400" dirty="0"/>
              <a:t>The proposed design strengthens resilience and aligns with NIST standards</a:t>
            </a:r>
          </a:p>
        </p:txBody>
      </p:sp>
    </p:spTree>
    <p:extLst>
      <p:ext uri="{BB962C8B-B14F-4D97-AF65-F5344CB8AC3E}">
        <p14:creationId xmlns:p14="http://schemas.microsoft.com/office/powerpoint/2010/main" val="288999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AAD5-08A2-4296-E62A-58B5E729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04E30-243F-C2BE-FA7D-94A7E176C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Today, DHHI’s security program is functional but reactive. With our move to a larger headquarters and expansion of digital operations, the risks increase dramatically.</a:t>
            </a:r>
          </a:p>
          <a:p>
            <a:pPr marL="0" indent="0">
              <a:buNone/>
            </a:pPr>
            <a:r>
              <a:rPr lang="en-US" sz="2400" b="1" dirty="0"/>
              <a:t>Board-Level Concerns:</a:t>
            </a:r>
            <a:endParaRPr lang="en-US" sz="2400" dirty="0"/>
          </a:p>
          <a:p>
            <a:r>
              <a:rPr lang="en-US" sz="2400" dirty="0"/>
              <a:t>Greater attack surface during and after expansion</a:t>
            </a:r>
          </a:p>
          <a:p>
            <a:r>
              <a:rPr lang="en-US" sz="2400" dirty="0"/>
              <a:t>Operational disruption risk due to outdated processes</a:t>
            </a:r>
          </a:p>
          <a:p>
            <a:r>
              <a:rPr lang="en-US" sz="2400" dirty="0"/>
              <a:t>Potential financial and reputational damage</a:t>
            </a:r>
          </a:p>
          <a:p>
            <a:r>
              <a:rPr lang="en-US" sz="2400" dirty="0"/>
              <a:t>Lack of unified, forward-looking security capabilities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0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411B-2208-9B5A-450D-4556EE14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DHHIs new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84F4D-5CCA-5E21-9838-21B195295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78227"/>
            <a:ext cx="10131425" cy="465849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/>
              <a:t>This Security Operations Program is built to support DHHI’s growth strategy and risk profile.</a:t>
            </a:r>
            <a:br>
              <a:rPr lang="en-US" sz="3400" dirty="0"/>
            </a:b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What This Framework Provides:</a:t>
            </a:r>
            <a:endParaRPr lang="en-US" sz="3400" dirty="0"/>
          </a:p>
          <a:p>
            <a:r>
              <a:rPr lang="en-US" sz="3400" dirty="0"/>
              <a:t>A complete operating model for vulnerability, threat, and incident management</a:t>
            </a:r>
          </a:p>
          <a:p>
            <a:r>
              <a:rPr lang="en-US" sz="3400" dirty="0"/>
              <a:t>Strong identity governance aligned with Zero Trust</a:t>
            </a:r>
          </a:p>
          <a:p>
            <a:r>
              <a:rPr lang="en-US" sz="3400" dirty="0"/>
              <a:t>Integrated cloud security and data protection</a:t>
            </a:r>
          </a:p>
          <a:p>
            <a:r>
              <a:rPr lang="en-US" sz="3400" dirty="0"/>
              <a:t>Mapped to NIST SP 800-12, SP 800-35, and SP 800-100</a:t>
            </a:r>
          </a:p>
          <a:p>
            <a:pPr marL="0" indent="0">
              <a:buNone/>
            </a:pPr>
            <a:br>
              <a:rPr lang="en-US" sz="3400" b="1" dirty="0"/>
            </a:br>
            <a:r>
              <a:rPr lang="en-US" sz="3400" b="1" dirty="0"/>
              <a:t>What It Does </a:t>
            </a:r>
            <a:r>
              <a:rPr lang="en-US" sz="3400" b="1" i="1" dirty="0"/>
              <a:t>Not</a:t>
            </a:r>
            <a:r>
              <a:rPr lang="en-US" sz="3400" b="1" dirty="0"/>
              <a:t> Provide:</a:t>
            </a:r>
            <a:endParaRPr lang="en-US" sz="3400" dirty="0"/>
          </a:p>
          <a:p>
            <a:r>
              <a:rPr lang="en-US" sz="3400" dirty="0"/>
              <a:t>Vendor procurement or technical configuration details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0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FC6D-AD90-06DF-A08B-B0D04394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security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FD3A-3F66-A6BC-1C7A-4234FCC8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4530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Today’s environment includes several effective tools, but they operate independently and require significant manual effort.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Current Capabilities:</a:t>
            </a:r>
            <a:endParaRPr lang="en-US" sz="2400" dirty="0"/>
          </a:p>
          <a:p>
            <a:r>
              <a:rPr lang="en-US" sz="2400" dirty="0"/>
              <a:t>Endpoint security, patch management, SIEM, DLP, phishing training, cloud controls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Board-Level Insight:</a:t>
            </a:r>
            <a:endParaRPr lang="en-US" sz="2400" dirty="0"/>
          </a:p>
          <a:p>
            <a:r>
              <a:rPr lang="en-US" sz="2400" dirty="0"/>
              <a:t>These controls work in isolation</a:t>
            </a:r>
          </a:p>
          <a:p>
            <a:r>
              <a:rPr lang="en-US" sz="2400" dirty="0"/>
              <a:t>Lack of integration creates blind spots</a:t>
            </a:r>
          </a:p>
          <a:p>
            <a:r>
              <a:rPr lang="en-US" sz="2400" dirty="0"/>
              <a:t>Reactive posture increases risk during growth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7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31BD-859A-E3E4-22C7-D610812A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risks and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C2B81-7C9F-3111-8A5A-E645D2089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57862"/>
            <a:ext cx="10131425" cy="4666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evaluation identified several material gaps that directly affect DHHI’s operational readiness.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Key Gaps:</a:t>
            </a:r>
            <a:endParaRPr lang="en-US" dirty="0"/>
          </a:p>
          <a:p>
            <a:r>
              <a:rPr lang="en-US" dirty="0"/>
              <a:t>Manual vulnerability prioritization slows risk reduction</a:t>
            </a:r>
          </a:p>
          <a:p>
            <a:r>
              <a:rPr lang="en-US" dirty="0"/>
              <a:t>SIEM rules and alerting need tuning to improve accuracy</a:t>
            </a:r>
          </a:p>
          <a:p>
            <a:r>
              <a:rPr lang="en-US" dirty="0"/>
              <a:t>Limited DLP visibility across cloud platforms</a:t>
            </a:r>
          </a:p>
          <a:p>
            <a:r>
              <a:rPr lang="en-US" dirty="0"/>
              <a:t>Cloud governance is not yet mature</a:t>
            </a:r>
          </a:p>
          <a:p>
            <a:r>
              <a:rPr lang="en-US" dirty="0"/>
              <a:t>Minimal automation in incident response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Impact to the Board:</a:t>
            </a:r>
            <a:endParaRPr lang="en-US" dirty="0"/>
          </a:p>
          <a:p>
            <a:r>
              <a:rPr lang="en-US" dirty="0"/>
              <a:t>Longer detection times</a:t>
            </a:r>
          </a:p>
          <a:p>
            <a:r>
              <a:rPr lang="en-US" dirty="0"/>
              <a:t>Increased exposure to financial and regulatory risk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6F27-1B29-E761-09C1-78AB21BE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state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5B9E-7B6D-EBD5-9E46-CAAB1DFE1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87158"/>
            <a:ext cx="10131425" cy="5630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Our proposed future state transforms DHHI from a reactive model to a proactive, intelligence-driven security organization.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Core Components:</a:t>
            </a:r>
            <a:endParaRPr lang="en-US" sz="2000" dirty="0"/>
          </a:p>
          <a:p>
            <a:r>
              <a:rPr lang="en-US" sz="2000" dirty="0"/>
              <a:t>A unified Security Operations Center (SOC)</a:t>
            </a:r>
          </a:p>
          <a:p>
            <a:r>
              <a:rPr lang="en-US" sz="2000" dirty="0"/>
              <a:t>Continuous vulnerability management with automated prioritization</a:t>
            </a:r>
          </a:p>
          <a:p>
            <a:r>
              <a:rPr lang="en-US" sz="2000" dirty="0"/>
              <a:t>Automated incident response workflows</a:t>
            </a:r>
          </a:p>
          <a:p>
            <a:r>
              <a:rPr lang="en-US" sz="2000" dirty="0"/>
              <a:t>Strong identity &amp; access governance</a:t>
            </a:r>
          </a:p>
          <a:p>
            <a:r>
              <a:rPr lang="en-US" sz="2000" dirty="0"/>
              <a:t>Mature cloud monitoring and configuration controls</a:t>
            </a:r>
          </a:p>
          <a:p>
            <a:r>
              <a:rPr lang="en-US" sz="2000" dirty="0"/>
              <a:t>Expanded DLP across email, cloud, and collaboration systems</a:t>
            </a:r>
          </a:p>
          <a:p>
            <a:pPr marL="0" indent="0">
              <a:buNone/>
            </a:pPr>
            <a:br>
              <a:rPr lang="en-US" sz="2000" b="1" dirty="0"/>
            </a:br>
            <a:r>
              <a:rPr lang="en-US" sz="2000" b="1" dirty="0"/>
              <a:t>Board Takeaway:</a:t>
            </a:r>
            <a:br>
              <a:rPr lang="en-US" sz="2000" dirty="0"/>
            </a:br>
            <a:r>
              <a:rPr lang="en-US" sz="2000" dirty="0"/>
              <a:t>This design future-proofs security as DHHI grows in size, complexity, and risk.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2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052E-464F-41C1-4BD7-8C7C130B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AF9C4-339B-BCF5-296F-473578616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72511"/>
            <a:ext cx="10131425" cy="51854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To ensure controlled, measurable progress, the program is divided into four strategic phases.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Phases:</a:t>
            </a:r>
            <a:endParaRPr lang="en-US" sz="2400" dirty="0"/>
          </a:p>
          <a:p>
            <a:r>
              <a:rPr lang="en-US" sz="2400" b="1" dirty="0"/>
              <a:t>Foundational Alignment (0–3 months)</a:t>
            </a:r>
            <a:endParaRPr lang="en-US" sz="2400" dirty="0"/>
          </a:p>
          <a:p>
            <a:r>
              <a:rPr lang="en-US" sz="2400" b="1" dirty="0"/>
              <a:t>Operational Integration (3–6 months)</a:t>
            </a:r>
            <a:endParaRPr lang="en-US" sz="2400" dirty="0"/>
          </a:p>
          <a:p>
            <a:r>
              <a:rPr lang="en-US" sz="2400" b="1" dirty="0"/>
              <a:t>Advanced Capabilities (6–12 months)</a:t>
            </a:r>
            <a:endParaRPr lang="en-US" sz="2400" dirty="0"/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Governance &amp; Optimization (12–18 months)</a:t>
            </a:r>
            <a:br>
              <a:rPr lang="en-US" sz="2400" dirty="0"/>
            </a:br>
            <a:r>
              <a:rPr lang="en-US" sz="2400" b="1" dirty="0"/>
              <a:t>Board Perspective:</a:t>
            </a:r>
            <a:endParaRPr lang="en-US" sz="2400" dirty="0"/>
          </a:p>
          <a:p>
            <a:r>
              <a:rPr lang="en-US" sz="2400" dirty="0"/>
              <a:t>Predictable timelines</a:t>
            </a:r>
          </a:p>
          <a:p>
            <a:r>
              <a:rPr lang="en-US" sz="2400" dirty="0"/>
              <a:t>Clear milestones</a:t>
            </a:r>
          </a:p>
          <a:p>
            <a:r>
              <a:rPr lang="en-US" sz="2400" dirty="0"/>
              <a:t>Aligns investment with risk reduction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19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3BD9-D8CA-1DD3-6B22-69B5AE54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Foundational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E6F70-F446-94C0-1C2D-328EB2740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77" y="1857862"/>
            <a:ext cx="10131425" cy="485185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This phase establishes the minimum governance and controls needed before advanced capabilities can be added.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Initiatives:</a:t>
            </a:r>
            <a:endParaRPr lang="en-US" sz="2400" dirty="0"/>
          </a:p>
          <a:p>
            <a:r>
              <a:rPr lang="en-US" sz="2400" dirty="0"/>
              <a:t>Formalize security governance and documentation</a:t>
            </a:r>
          </a:p>
          <a:p>
            <a:r>
              <a:rPr lang="en-US" sz="2400" dirty="0"/>
              <a:t>Strengthen endpoint protection and patch governance</a:t>
            </a:r>
          </a:p>
          <a:p>
            <a:r>
              <a:rPr lang="en-US" sz="2400" dirty="0"/>
              <a:t>Implement cloud security baselines and enforce MFA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Board Insight:</a:t>
            </a:r>
            <a:br>
              <a:rPr lang="en-US" sz="2400" b="1" dirty="0"/>
            </a:br>
            <a:r>
              <a:rPr lang="en-US" sz="2400" dirty="0"/>
              <a:t>Mitigates the most common and high-frequency risks early.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55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6A7E-1541-65E5-FE09-BB9B50D7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B9D0-0A78-8191-42F3-F1BFA172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19646"/>
            <a:ext cx="10131425" cy="47159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The financial plan reflects the cost required to responsibly mature DHHI’s security posture.</a:t>
            </a:r>
            <a:br>
              <a:rPr lang="en-US" sz="2600" dirty="0"/>
            </a:br>
            <a:br>
              <a:rPr lang="en-US" sz="2600" dirty="0"/>
            </a:br>
            <a:r>
              <a:rPr lang="en-US" sz="2600" b="1" dirty="0"/>
              <a:t>Proposed Investments:</a:t>
            </a:r>
            <a:endParaRPr lang="en-US" sz="2600" dirty="0"/>
          </a:p>
          <a:p>
            <a:r>
              <a:rPr lang="en-US" sz="2600" dirty="0"/>
              <a:t>Threat Detection &amp; Monitoring: </a:t>
            </a:r>
            <a:r>
              <a:rPr lang="en-US" sz="2600" b="1" dirty="0"/>
              <a:t>$112,000</a:t>
            </a:r>
            <a:endParaRPr lang="en-US" sz="2600" dirty="0"/>
          </a:p>
          <a:p>
            <a:r>
              <a:rPr lang="en-US" sz="2600" dirty="0"/>
              <a:t>Enhanced Endpoint EDR: </a:t>
            </a:r>
            <a:r>
              <a:rPr lang="en-US" sz="2600" b="1" dirty="0"/>
              <a:t>$69,500</a:t>
            </a:r>
            <a:endParaRPr lang="en-US" sz="2600" dirty="0"/>
          </a:p>
          <a:p>
            <a:r>
              <a:rPr lang="en-US" sz="2600" dirty="0"/>
              <a:t>Application Security: </a:t>
            </a:r>
            <a:r>
              <a:rPr lang="en-US" sz="2600" b="1" dirty="0"/>
              <a:t>$30,000</a:t>
            </a:r>
            <a:endParaRPr lang="en-US" sz="2600" dirty="0"/>
          </a:p>
          <a:p>
            <a:r>
              <a:rPr lang="en-US" sz="2600" dirty="0"/>
              <a:t>Training &amp; Phishing Programs: </a:t>
            </a:r>
            <a:r>
              <a:rPr lang="en-US" sz="2600" b="1" dirty="0"/>
              <a:t>$12,000</a:t>
            </a:r>
            <a:endParaRPr lang="en-US" sz="2600" dirty="0"/>
          </a:p>
          <a:p>
            <a:r>
              <a:rPr lang="en-US" sz="2600" dirty="0"/>
              <a:t>Data Loss Prevention: </a:t>
            </a:r>
            <a:r>
              <a:rPr lang="en-US" sz="2600" b="1" dirty="0"/>
              <a:t>$25,000</a:t>
            </a:r>
            <a:br>
              <a:rPr lang="en-US" sz="2600" b="1" dirty="0"/>
            </a:br>
            <a:endParaRPr lang="en-US" sz="2600" b="1" dirty="0"/>
          </a:p>
          <a:p>
            <a:pPr marL="0" indent="0">
              <a:buNone/>
            </a:pPr>
            <a:r>
              <a:rPr lang="en-US" sz="2600" b="1" dirty="0"/>
              <a:t>Board Insight:</a:t>
            </a:r>
            <a:br>
              <a:rPr lang="en-US" sz="2600" b="1" dirty="0"/>
            </a:br>
            <a:r>
              <a:rPr lang="en-US" sz="2600" dirty="0"/>
              <a:t>Budget aligns directly with risk reduction milestones across all phases.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4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60EC-507C-3869-208D-A7F0D070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run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2DBFF-C55D-899A-D1DB-901039A9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39465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The Master Security Run Book forms the operational backbone of the entire program.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Purpose:</a:t>
            </a:r>
            <a:endParaRPr lang="en-US" sz="2400" dirty="0"/>
          </a:p>
          <a:p>
            <a:r>
              <a:rPr lang="en-US" sz="2400" dirty="0"/>
              <a:t>Standardize all daily security operations</a:t>
            </a:r>
          </a:p>
          <a:p>
            <a:r>
              <a:rPr lang="en-US" sz="2400" dirty="0"/>
              <a:t>Define clear roles and responsibilities</a:t>
            </a:r>
          </a:p>
          <a:p>
            <a:r>
              <a:rPr lang="en-US" sz="2400" dirty="0"/>
              <a:t>Provide step-by-step incident response procedures</a:t>
            </a:r>
          </a:p>
          <a:p>
            <a:r>
              <a:rPr lang="en-US" sz="2400" dirty="0"/>
              <a:t>Govern identity, cloud, DLP, vulnerability, and DR operations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Board Insight:</a:t>
            </a:r>
            <a:br>
              <a:rPr lang="en-US" sz="2400" dirty="0"/>
            </a:br>
            <a:r>
              <a:rPr lang="en-US" sz="2400" dirty="0"/>
              <a:t>This ensures consistency, accountability, and regulatory defensibility.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8A85-9239-BE43-B31C-7FCA9C74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401D-739B-58B1-0F36-0A40EF16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32003"/>
            <a:ext cx="10131425" cy="4530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DHHI is at a pivotal stage in its growth. Implementing this program will:</a:t>
            </a:r>
          </a:p>
          <a:p>
            <a:r>
              <a:rPr lang="en-US" sz="2400" dirty="0"/>
              <a:t>Reduce operational and reputational risk</a:t>
            </a:r>
          </a:p>
          <a:p>
            <a:r>
              <a:rPr lang="en-US" sz="2400" dirty="0"/>
              <a:t>Strengthen our ability to protect client trust and data</a:t>
            </a:r>
          </a:p>
          <a:p>
            <a:r>
              <a:rPr lang="en-US" sz="2400" dirty="0"/>
              <a:t>Improve detection and response times</a:t>
            </a:r>
          </a:p>
          <a:p>
            <a:r>
              <a:rPr lang="en-US" sz="2400" dirty="0"/>
              <a:t>Support long-term scalability and business continuity</a:t>
            </a:r>
          </a:p>
          <a:p>
            <a:r>
              <a:rPr lang="en-US" sz="2400" dirty="0"/>
              <a:t>Position DHHI as a security-mature consulting firm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Closing Message:</a:t>
            </a:r>
            <a:br>
              <a:rPr lang="en-US" sz="2400" dirty="0"/>
            </a:br>
            <a:r>
              <a:rPr lang="en-US" sz="2400" dirty="0"/>
              <a:t>This roadmap provides the structure and discipline needed to secure DHHI’s future. Your support ensures the company grows with confidence and resilience.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5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170</TotalTime>
  <Words>749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Security Operations Board Breifing</vt:lpstr>
      <vt:lpstr>Executive summary</vt:lpstr>
      <vt:lpstr>The problem</vt:lpstr>
      <vt:lpstr>Scope of DHHIs new strategy</vt:lpstr>
      <vt:lpstr>Current security environment</vt:lpstr>
      <vt:lpstr>Current risks and gaps</vt:lpstr>
      <vt:lpstr>Future state vision</vt:lpstr>
      <vt:lpstr>Improvement roadmap</vt:lpstr>
      <vt:lpstr>Foundational Alignment</vt:lpstr>
      <vt:lpstr>Budget overview</vt:lpstr>
      <vt:lpstr>Security run book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Byrd</dc:creator>
  <cp:lastModifiedBy>Ethan Byrd</cp:lastModifiedBy>
  <cp:revision>3</cp:revision>
  <dcterms:created xsi:type="dcterms:W3CDTF">2025-12-03T23:50:34Z</dcterms:created>
  <dcterms:modified xsi:type="dcterms:W3CDTF">2026-03-23T23:13:28Z</dcterms:modified>
</cp:coreProperties>
</file>